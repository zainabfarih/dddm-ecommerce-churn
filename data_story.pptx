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7772400" cy="10058400"/>
  <p:embeddedFontLst>
    <p:embeddedFont>
      <p:font typeface="Cabin" panose="020B0604020202020204" charset="0"/>
      <p:regular r:id="rId17"/>
    </p:embeddedFont>
    <p:embeddedFont>
      <p:font typeface="Neue Machina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6082B-9E63-43C9-DA16-0480CF5C89C3}" v="9" dt="2026-06-09T03:21:07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SIA RGUIBI" userId="S::assia_rguibi@um5.ac.ma::c0e2f4f5-f1f2-4824-8034-144c67a887b1" providerId="AD" clId="Web-{4656082B-9E63-43C9-DA16-0480CF5C89C3}"/>
    <pc:docChg chg="modSld">
      <pc:chgData name="ASSIA RGUIBI" userId="S::assia_rguibi@um5.ac.ma::c0e2f4f5-f1f2-4824-8034-144c67a887b1" providerId="AD" clId="Web-{4656082B-9E63-43C9-DA16-0480CF5C89C3}" dt="2026-06-09T03:21:07.721" v="8" actId="14100"/>
      <pc:docMkLst>
        <pc:docMk/>
      </pc:docMkLst>
      <pc:sldChg chg="modSp">
        <pc:chgData name="ASSIA RGUIBI" userId="S::assia_rguibi@um5.ac.ma::c0e2f4f5-f1f2-4824-8034-144c67a887b1" providerId="AD" clId="Web-{4656082B-9E63-43C9-DA16-0480CF5C89C3}" dt="2026-06-09T03:21:07.721" v="8" actId="14100"/>
        <pc:sldMkLst>
          <pc:docMk/>
          <pc:sldMk cId="0" sldId="264"/>
        </pc:sldMkLst>
        <pc:spChg chg="mod">
          <ac:chgData name="ASSIA RGUIBI" userId="S::assia_rguibi@um5.ac.ma::c0e2f4f5-f1f2-4824-8034-144c67a887b1" providerId="AD" clId="Web-{4656082B-9E63-43C9-DA16-0480CF5C89C3}" dt="2026-06-09T03:21:07.721" v="8" actId="14100"/>
          <ac:spMkLst>
            <pc:docMk/>
            <pc:sldMk cId="0" sldId="264"/>
            <ac:spMk id="132" creationId="{00000000-0000-0000-0000-000000000000}"/>
          </ac:spMkLst>
        </pc:spChg>
      </pc:sldChg>
      <pc:sldChg chg="modSp">
        <pc:chgData name="ASSIA RGUIBI" userId="S::assia_rguibi@um5.ac.ma::c0e2f4f5-f1f2-4824-8034-144c67a887b1" providerId="AD" clId="Web-{4656082B-9E63-43C9-DA16-0480CF5C89C3}" dt="2026-06-09T03:20:26.032" v="0" actId="14100"/>
        <pc:sldMkLst>
          <pc:docMk/>
          <pc:sldMk cId="0" sldId="266"/>
        </pc:sldMkLst>
        <pc:spChg chg="mod">
          <ac:chgData name="ASSIA RGUIBI" userId="S::assia_rguibi@um5.ac.ma::c0e2f4f5-f1f2-4824-8034-144c67a887b1" providerId="AD" clId="Web-{4656082B-9E63-43C9-DA16-0480CF5C89C3}" dt="2026-06-09T03:20:26.032" v="0" actId="14100"/>
          <ac:spMkLst>
            <pc:docMk/>
            <pc:sldMk cId="0" sldId="266"/>
            <ac:spMk id="153" creationId="{00000000-0000-0000-0000-000000000000}"/>
          </ac:spMkLst>
        </pc:spChg>
      </pc:sldChg>
      <pc:sldChg chg="modSp">
        <pc:chgData name="ASSIA RGUIBI" userId="S::assia_rguibi@um5.ac.ma::c0e2f4f5-f1f2-4824-8034-144c67a887b1" providerId="AD" clId="Web-{4656082B-9E63-43C9-DA16-0480CF5C89C3}" dt="2026-06-09T03:20:34.548" v="1" actId="14100"/>
        <pc:sldMkLst>
          <pc:docMk/>
          <pc:sldMk cId="0" sldId="268"/>
        </pc:sldMkLst>
        <pc:spChg chg="mod">
          <ac:chgData name="ASSIA RGUIBI" userId="S::assia_rguibi@um5.ac.ma::c0e2f4f5-f1f2-4824-8034-144c67a887b1" providerId="AD" clId="Web-{4656082B-9E63-43C9-DA16-0480CF5C89C3}" dt="2026-06-09T03:20:34.548" v="1" actId="14100"/>
          <ac:spMkLst>
            <pc:docMk/>
            <pc:sldMk cId="0" sldId="268"/>
            <ac:spMk id="168" creationId="{00000000-0000-0000-0000-000000000000}"/>
          </ac:spMkLst>
        </pc:spChg>
      </pc:sldChg>
      <pc:sldChg chg="modSp">
        <pc:chgData name="ASSIA RGUIBI" userId="S::assia_rguibi@um5.ac.ma::c0e2f4f5-f1f2-4824-8034-144c67a887b1" providerId="AD" clId="Web-{4656082B-9E63-43C9-DA16-0480CF5C89C3}" dt="2026-06-09T03:20:41.376" v="3" actId="14100"/>
        <pc:sldMkLst>
          <pc:docMk/>
          <pc:sldMk cId="0" sldId="269"/>
        </pc:sldMkLst>
        <pc:spChg chg="mod">
          <ac:chgData name="ASSIA RGUIBI" userId="S::assia_rguibi@um5.ac.ma::c0e2f4f5-f1f2-4824-8034-144c67a887b1" providerId="AD" clId="Web-{4656082B-9E63-43C9-DA16-0480CF5C89C3}" dt="2026-06-09T03:20:41.376" v="3" actId="14100"/>
          <ac:spMkLst>
            <pc:docMk/>
            <pc:sldMk cId="0" sldId="269"/>
            <ac:spMk id="172" creationId="{00000000-0000-0000-0000-000000000000}"/>
          </ac:spMkLst>
        </pc:spChg>
      </pc:sldChg>
      <pc:sldChg chg="modSp">
        <pc:chgData name="ASSIA RGUIBI" userId="S::assia_rguibi@um5.ac.ma::c0e2f4f5-f1f2-4824-8034-144c67a887b1" providerId="AD" clId="Web-{4656082B-9E63-43C9-DA16-0480CF5C89C3}" dt="2026-06-09T03:20:53.877" v="6" actId="14100"/>
        <pc:sldMkLst>
          <pc:docMk/>
          <pc:sldMk cId="0" sldId="270"/>
        </pc:sldMkLst>
        <pc:spChg chg="mod">
          <ac:chgData name="ASSIA RGUIBI" userId="S::assia_rguibi@um5.ac.ma::c0e2f4f5-f1f2-4824-8034-144c67a887b1" providerId="AD" clId="Web-{4656082B-9E63-43C9-DA16-0480CF5C89C3}" dt="2026-06-09T03:20:53.877" v="6" actId="14100"/>
          <ac:spMkLst>
            <pc:docMk/>
            <pc:sldMk cId="0" sldId="270"/>
            <ac:spMk id="18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B01242-3240-4B68-BEC0-0B38405761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080B16-3162-437D-B774-00883CF33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CBF011-B635-483B-ABF0-B3D1E8948C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78E3CC-933E-4A2B-B78B-1621D03008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CC6C90-3E5B-4734-B8C3-D0AFDE4D9E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8E3CF3-B90A-457E-87E7-9914445156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AD10C5-D6E5-47B3-BA03-0281F4CD81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9D99EA-534E-4AEC-B8D6-280B148EF4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605252-80BE-4477-AB1B-05F71C5DB0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7B20F7-0801-403B-9259-84FAB017E0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4E68B7-AADB-449B-9D52-E9EE286715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64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6"/>
          <p:cNvSpPr/>
          <p:nvPr/>
        </p:nvSpPr>
        <p:spPr>
          <a:xfrm>
            <a:off x="2710440" y="5122440"/>
            <a:ext cx="6020280" cy="139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i="1" u="none" strike="noStrike" spc="-513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Churn Client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7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8"/>
          <p:cNvSpPr/>
          <p:nvPr/>
        </p:nvSpPr>
        <p:spPr>
          <a:xfrm>
            <a:off x="15037200" y="921960"/>
            <a:ext cx="1714320" cy="1455840"/>
          </a:xfrm>
          <a:custGeom>
            <a:avLst/>
            <a:gdLst>
              <a:gd name="textAreaLeft" fmla="*/ 0 w 1714320"/>
              <a:gd name="textAreaRight" fmla="*/ 1715040 w 1714320"/>
              <a:gd name="textAreaTop" fmla="*/ 0 h 1455840"/>
              <a:gd name="textAreaBottom" fmla="*/ 1456560 h 1455840"/>
            </a:gdLst>
            <a:ahLst/>
            <a:cxnLst/>
            <a:rect l="textAreaLeft" t="textAreaTop" r="textAreaRight" b="textAreaBottom"/>
            <a:pathLst>
              <a:path w="1714938" h="1456523">
                <a:moveTo>
                  <a:pt x="0" y="0"/>
                </a:moveTo>
                <a:lnTo>
                  <a:pt x="1714938" y="0"/>
                </a:lnTo>
                <a:lnTo>
                  <a:pt x="1714938" y="1456523"/>
                </a:lnTo>
                <a:lnTo>
                  <a:pt x="0" y="14565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4294800" y="3249720"/>
            <a:ext cx="800964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Data Story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7392600" y="8248320"/>
            <a:ext cx="402732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01"/>
              </a:lnSpc>
            </a:pPr>
            <a:r>
              <a:rPr lang="en-US" sz="3000" b="1" u="none" strike="noStrike" spc="-105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Zainab Farih &amp; Assia Rguibi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13740840" y="8248320"/>
            <a:ext cx="203220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2025/2026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2"/>
          <p:cNvGraphicFramePr/>
          <p:nvPr/>
        </p:nvGraphicFramePr>
        <p:xfrm>
          <a:off x="1522800" y="3677040"/>
          <a:ext cx="14819760" cy="3808800"/>
        </p:xfrm>
        <a:graphic>
          <a:graphicData uri="http://schemas.openxmlformats.org/drawingml/2006/table">
            <a:tbl>
              <a:tblPr/>
              <a:tblGrid>
                <a:gridCol w="10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8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312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lang="en-US" sz="2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 Bold"/>
                          <a:ea typeface="Cabin Bold"/>
                        </a:rPr>
                        <a:t>01</a:t>
                      </a:r>
                      <a:endParaRPr lang="en-US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"/>
                          <a:ea typeface="Cabin"/>
                        </a:rPr>
                        <a:t>Le problème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lang="en-US" sz="2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 Bold"/>
                          <a:ea typeface="Cabin Bold"/>
                        </a:rPr>
                        <a:t>02</a:t>
                      </a:r>
                      <a:endParaRPr lang="en-US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"/>
                          <a:ea typeface="Cabin"/>
                        </a:rPr>
                        <a:t>Nos découvertes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2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lang="en-US" sz="2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 Bold"/>
                          <a:ea typeface="Cabin Bold"/>
                        </a:rPr>
                        <a:t>03</a:t>
                      </a:r>
                      <a:endParaRPr lang="en-US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"/>
                          <a:ea typeface="Cabin"/>
                        </a:rPr>
                        <a:t>Notre solution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lang="en-US" sz="2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 Bold"/>
                          <a:ea typeface="Cabin Bold"/>
                        </a:rPr>
                        <a:t>04</a:t>
                      </a:r>
                      <a:endParaRPr lang="en-US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"/>
                          <a:ea typeface="Cabin"/>
                        </a:rPr>
                        <a:t>Recommandations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12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lang="en-US" sz="2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 Bold"/>
                          <a:ea typeface="Cabin Bold"/>
                        </a:rPr>
                        <a:t>05</a:t>
                      </a:r>
                      <a:endParaRPr lang="en-US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bin"/>
                          <a:ea typeface="Cabin"/>
                        </a:rPr>
                        <a:t>Conclusion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440"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90440" marR="190440" marT="190440" marB="19044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TextBox 3"/>
          <p:cNvSpPr/>
          <p:nvPr/>
        </p:nvSpPr>
        <p:spPr>
          <a:xfrm>
            <a:off x="2166120" y="1635840"/>
            <a:ext cx="1840320" cy="95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Plan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4"/>
          <p:cNvSpPr/>
          <p:nvPr/>
        </p:nvSpPr>
        <p:spPr>
          <a:xfrm>
            <a:off x="1800720" y="25916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5"/>
          <p:cNvGrpSpPr/>
          <p:nvPr/>
        </p:nvGrpSpPr>
        <p:grpSpPr>
          <a:xfrm>
            <a:off x="0" y="9258480"/>
            <a:ext cx="18287280" cy="1028160"/>
            <a:chOff x="0" y="9258480"/>
            <a:chExt cx="18287280" cy="1028160"/>
          </a:xfrm>
        </p:grpSpPr>
        <p:sp>
          <p:nvSpPr>
            <p:cNvPr id="76" name="Freeform 6"/>
            <p:cNvSpPr/>
            <p:nvPr/>
          </p:nvSpPr>
          <p:spPr>
            <a:xfrm>
              <a:off x="0" y="9258480"/>
              <a:ext cx="18287280" cy="102816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160"/>
                <a:gd name="textAreaBottom" fmla="*/ 1028880 h 1028160"/>
              </a:gdLst>
              <a:ahLst/>
              <a:cxnLst/>
              <a:rect l="textAreaLeft" t="textAreaTop" r="textAreaRight" b="textAreaBottom"/>
              <a:pathLst>
                <a:path w="24384000" h="13716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DDE3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7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81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6"/>
          <p:cNvSpPr/>
          <p:nvPr/>
        </p:nvSpPr>
        <p:spPr>
          <a:xfrm>
            <a:off x="4294800" y="3249720"/>
            <a:ext cx="943416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Le problème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8314200" y="8248320"/>
            <a:ext cx="105804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Enjeu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11216520" y="8248320"/>
            <a:ext cx="158508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Contexte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14814720" y="8248320"/>
            <a:ext cx="141552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Question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10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2"/>
          <p:cNvSpPr/>
          <p:nvPr/>
        </p:nvSpPr>
        <p:spPr>
          <a:xfrm>
            <a:off x="1028880" y="1600200"/>
            <a:ext cx="5179680" cy="95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Le problème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9144000" y="4288320"/>
            <a:ext cx="7768080" cy="34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923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Retenir un client coûte 5x moins cher que d’en acquérir un nouveau.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3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3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1,6 million de transactions réelles analysées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3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2 sources combinees (Kaggle + UCI).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3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3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Domaine : e-commerce UK — Période : 2009–2011.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reeform 4"/>
          <p:cNvSpPr/>
          <p:nvPr/>
        </p:nvSpPr>
        <p:spPr>
          <a:xfrm>
            <a:off x="9144000" y="322020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9144000" y="1600200"/>
            <a:ext cx="6835680" cy="11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Le churn 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silence qui coûte cher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6"/>
          <p:cNvGrpSpPr/>
          <p:nvPr/>
        </p:nvGrpSpPr>
        <p:grpSpPr>
          <a:xfrm>
            <a:off x="1028880" y="5655600"/>
            <a:ext cx="696240" cy="696240"/>
            <a:chOff x="1028880" y="5655600"/>
            <a:chExt cx="696240" cy="696240"/>
          </a:xfrm>
        </p:grpSpPr>
        <p:sp>
          <p:nvSpPr>
            <p:cNvPr id="93" name="Freeform 7"/>
            <p:cNvSpPr/>
            <p:nvPr/>
          </p:nvSpPr>
          <p:spPr>
            <a:xfrm>
              <a:off x="1028880" y="5655600"/>
              <a:ext cx="696240" cy="696240"/>
            </a:xfrm>
            <a:custGeom>
              <a:avLst/>
              <a:gdLst>
                <a:gd name="textAreaLeft" fmla="*/ 0 w 696240"/>
                <a:gd name="textAreaRight" fmla="*/ 696960 w 696240"/>
                <a:gd name="textAreaTop" fmla="*/ 0 h 696240"/>
                <a:gd name="textAreaBottom" fmla="*/ 696960 h 696240"/>
              </a:gdLst>
              <a:ahLst/>
              <a:cxnLst/>
              <a:rect l="textAreaLeft" t="textAreaTop" r="textAreaRight" b="textAreaBottom"/>
              <a:pathLst>
                <a:path w="929259" h="929259">
                  <a:moveTo>
                    <a:pt x="464693" y="0"/>
                  </a:moveTo>
                  <a:cubicBezTo>
                    <a:pt x="208026" y="0"/>
                    <a:pt x="0" y="208026"/>
                    <a:pt x="0" y="464693"/>
                  </a:cubicBezTo>
                  <a:cubicBezTo>
                    <a:pt x="0" y="721360"/>
                    <a:pt x="208026" y="929259"/>
                    <a:pt x="464693" y="929259"/>
                  </a:cubicBezTo>
                  <a:cubicBezTo>
                    <a:pt x="721360" y="929259"/>
                    <a:pt x="929259" y="721233"/>
                    <a:pt x="929259" y="464693"/>
                  </a:cubicBezTo>
                  <a:cubicBezTo>
                    <a:pt x="929259" y="208153"/>
                    <a:pt x="721233" y="0"/>
                    <a:pt x="464693" y="0"/>
                  </a:cubicBezTo>
                  <a:close/>
                </a:path>
              </a:pathLst>
            </a:custGeom>
            <a:solidFill>
              <a:srgbClr val="BAC9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TextBox 8"/>
          <p:cNvSpPr/>
          <p:nvPr/>
        </p:nvSpPr>
        <p:spPr>
          <a:xfrm>
            <a:off x="1028880" y="6755760"/>
            <a:ext cx="6864120" cy="9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852"/>
              </a:lnSpc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Peut-on prédire le départ d’un client à 90 jours et agir en conséquence ?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99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TextBox 6"/>
          <p:cNvSpPr/>
          <p:nvPr/>
        </p:nvSpPr>
        <p:spPr>
          <a:xfrm>
            <a:off x="4294800" y="3249720"/>
            <a:ext cx="1246608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Nos découvertes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7966080" y="8248320"/>
            <a:ext cx="186372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Segments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1408040" y="8248320"/>
            <a:ext cx="116496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Risque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14912280" y="8248320"/>
            <a:ext cx="131832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Signaux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0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4926240" y="1600200"/>
            <a:ext cx="8434800" cy="153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Nos découvertes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88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2358360" y="5086440"/>
            <a:ext cx="13570920" cy="246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604440" lvl="1" indent="-302040" defTabSz="914400">
              <a:lnSpc>
                <a:spcPts val="392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Clients VIP : achats fréquents, panier élevé, actifs récemment. Représentent l’essentiel du chiffre d’affaires.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4440" lvl="1" indent="-302040" defTabSz="914400">
              <a:lnSpc>
                <a:spcPts val="392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Clients réguliers : fidèles mais moins fréquents. Potentiel de montée en gamme.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4440" lvl="1" indent="-302040" defTabSz="914400">
              <a:lnSpc>
                <a:spcPts val="392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Clients à risque : 3 486 clients inactifs depuis 90 jours. Taux de churn dans ce groupe : 76 %. Signal clé : la récence.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Freeform 4"/>
          <p:cNvSpPr/>
          <p:nvPr/>
        </p:nvSpPr>
        <p:spPr>
          <a:xfrm>
            <a:off x="7858080" y="374292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49"/>
                </a:lnTo>
                <a:lnTo>
                  <a:pt x="0" y="3226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6088320" y="3146760"/>
            <a:ext cx="6111000" cy="5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3 profils de clients identifiés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114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TextBox 6"/>
          <p:cNvSpPr/>
          <p:nvPr/>
        </p:nvSpPr>
        <p:spPr>
          <a:xfrm>
            <a:off x="4294800" y="3249720"/>
            <a:ext cx="1065564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Notre solution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8165520" y="8248320"/>
            <a:ext cx="120708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Modèle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11085840" y="8248320"/>
            <a:ext cx="194436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Dashboard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14835960" y="8248320"/>
            <a:ext cx="162324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Précision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Freeform 10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2"/>
          <p:cNvSpPr/>
          <p:nvPr/>
        </p:nvSpPr>
        <p:spPr>
          <a:xfrm>
            <a:off x="1028880" y="1600200"/>
            <a:ext cx="6042960" cy="95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Notre solution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8804880" y="4532040"/>
            <a:ext cx="7514280" cy="29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000"/>
              </a:lnSpc>
            </a:pPr>
            <a:r>
              <a:rPr lang="en-US" sz="285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3 modèles testés : Régression logistique, Random Forest, XGBoost.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</a:pPr>
            <a:r>
              <a:rPr lang="en-US" sz="285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Le champion : XGBoost 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</a:pPr>
            <a:r>
              <a:rPr lang="en-US" sz="285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Score de fiabilité AUC = 0,87. Sur 10 clients signalés à risque, plus de 8 le sont vraiment.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9144000" y="1600200"/>
            <a:ext cx="6835680" cy="11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Le modèle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prédictif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5"/>
          <p:cNvGrpSpPr/>
          <p:nvPr/>
        </p:nvGrpSpPr>
        <p:grpSpPr>
          <a:xfrm>
            <a:off x="1028880" y="5655600"/>
            <a:ext cx="2426040" cy="2426040"/>
            <a:chOff x="1028880" y="5655600"/>
            <a:chExt cx="2426040" cy="2426040"/>
          </a:xfrm>
        </p:grpSpPr>
        <p:sp>
          <p:nvSpPr>
            <p:cNvPr id="125" name="Freeform 6"/>
            <p:cNvSpPr/>
            <p:nvPr/>
          </p:nvSpPr>
          <p:spPr>
            <a:xfrm>
              <a:off x="1028880" y="5655600"/>
              <a:ext cx="2426040" cy="2426040"/>
            </a:xfrm>
            <a:custGeom>
              <a:avLst/>
              <a:gdLst>
                <a:gd name="textAreaLeft" fmla="*/ 0 w 2426040"/>
                <a:gd name="textAreaRight" fmla="*/ 2426760 w 2426040"/>
                <a:gd name="textAreaTop" fmla="*/ 0 h 2426040"/>
                <a:gd name="textAreaBottom" fmla="*/ 2426760 h 2426040"/>
              </a:gdLst>
              <a:ahLst/>
              <a:cxnLst/>
              <a:rect l="textAreaLeft" t="textAreaTop" r="textAreaRight" b="textAreaBottom"/>
              <a:pathLst>
                <a:path w="929259" h="929259">
                  <a:moveTo>
                    <a:pt x="464693" y="0"/>
                  </a:moveTo>
                  <a:cubicBezTo>
                    <a:pt x="208026" y="0"/>
                    <a:pt x="0" y="208026"/>
                    <a:pt x="0" y="464693"/>
                  </a:cubicBezTo>
                  <a:cubicBezTo>
                    <a:pt x="0" y="721360"/>
                    <a:pt x="208026" y="929259"/>
                    <a:pt x="464693" y="929259"/>
                  </a:cubicBezTo>
                  <a:cubicBezTo>
                    <a:pt x="721360" y="929259"/>
                    <a:pt x="929259" y="721233"/>
                    <a:pt x="929259" y="464693"/>
                  </a:cubicBezTo>
                  <a:cubicBezTo>
                    <a:pt x="929259" y="208153"/>
                    <a:pt x="721233" y="0"/>
                    <a:pt x="464693" y="0"/>
                  </a:cubicBezTo>
                  <a:close/>
                </a:path>
              </a:pathLst>
            </a:custGeom>
            <a:solidFill>
              <a:srgbClr val="BAC9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Freeform 7"/>
          <p:cNvSpPr/>
          <p:nvPr/>
        </p:nvSpPr>
        <p:spPr>
          <a:xfrm>
            <a:off x="9144000" y="322020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2"/>
          <p:cNvGrpSpPr/>
          <p:nvPr/>
        </p:nvGrpSpPr>
        <p:grpSpPr>
          <a:xfrm>
            <a:off x="1028880" y="5655600"/>
            <a:ext cx="696240" cy="696240"/>
            <a:chOff x="1028880" y="5655600"/>
            <a:chExt cx="696240" cy="696240"/>
          </a:xfrm>
        </p:grpSpPr>
        <p:sp>
          <p:nvSpPr>
            <p:cNvPr id="129" name="Freeform 3"/>
            <p:cNvSpPr/>
            <p:nvPr/>
          </p:nvSpPr>
          <p:spPr>
            <a:xfrm>
              <a:off x="1028880" y="5655600"/>
              <a:ext cx="696240" cy="696240"/>
            </a:xfrm>
            <a:custGeom>
              <a:avLst/>
              <a:gdLst>
                <a:gd name="textAreaLeft" fmla="*/ 0 w 696240"/>
                <a:gd name="textAreaRight" fmla="*/ 696960 w 696240"/>
                <a:gd name="textAreaTop" fmla="*/ 0 h 696240"/>
                <a:gd name="textAreaBottom" fmla="*/ 696960 h 696240"/>
              </a:gdLst>
              <a:ahLst/>
              <a:cxnLst/>
              <a:rect l="textAreaLeft" t="textAreaTop" r="textAreaRight" b="textAreaBottom"/>
              <a:pathLst>
                <a:path w="929259" h="929259">
                  <a:moveTo>
                    <a:pt x="464693" y="0"/>
                  </a:moveTo>
                  <a:cubicBezTo>
                    <a:pt x="208026" y="0"/>
                    <a:pt x="0" y="208026"/>
                    <a:pt x="0" y="464693"/>
                  </a:cubicBezTo>
                  <a:cubicBezTo>
                    <a:pt x="0" y="721360"/>
                    <a:pt x="208026" y="929259"/>
                    <a:pt x="464693" y="929259"/>
                  </a:cubicBezTo>
                  <a:cubicBezTo>
                    <a:pt x="721360" y="929259"/>
                    <a:pt x="929259" y="721233"/>
                    <a:pt x="929259" y="464693"/>
                  </a:cubicBezTo>
                  <a:cubicBezTo>
                    <a:pt x="929259" y="208153"/>
                    <a:pt x="721233" y="0"/>
                    <a:pt x="464693" y="0"/>
                  </a:cubicBezTo>
                  <a:close/>
                </a:path>
              </a:pathLst>
            </a:custGeom>
            <a:solidFill>
              <a:srgbClr val="BAC9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Freeform 4"/>
          <p:cNvSpPr/>
          <p:nvPr/>
        </p:nvSpPr>
        <p:spPr>
          <a:xfrm>
            <a:off x="9144000" y="239472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657" r="657"/>
          <a:stretch>
            <a:fillRect/>
          </a:stretch>
        </p:blipFill>
        <p:spPr>
          <a:xfrm>
            <a:off x="3088800" y="2894040"/>
            <a:ext cx="11693520" cy="6665040"/>
          </a:xfrm>
          <a:prstGeom prst="rect">
            <a:avLst/>
          </a:prstGeom>
          <a:ln w="0">
            <a:noFill/>
          </a:ln>
        </p:spPr>
      </p:pic>
      <p:sp>
        <p:nvSpPr>
          <p:cNvPr id="132" name="TextBox 6"/>
          <p:cNvSpPr/>
          <p:nvPr/>
        </p:nvSpPr>
        <p:spPr>
          <a:xfrm>
            <a:off x="1028880" y="1600200"/>
            <a:ext cx="7170513" cy="933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Notre solution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9144000" y="1600200"/>
            <a:ext cx="6835680" cy="5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Dashboard interactif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16455960" y="9210600"/>
            <a:ext cx="1515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>
                  <p:stCondLst>
                    <p:cond delay="indefinite"/>
                  </p:stCondLst>
                </p:cTn>
                <p:tgtEl>
                  <p:spTgt spid="13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138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" name="TextBox 6"/>
          <p:cNvSpPr/>
          <p:nvPr/>
        </p:nvSpPr>
        <p:spPr>
          <a:xfrm>
            <a:off x="4294800" y="3164040"/>
            <a:ext cx="10986120" cy="14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0208"/>
              </a:lnSpc>
            </a:pPr>
            <a:r>
              <a:rPr lang="en-US" sz="11340" b="1" u="none" strike="noStrike" spc="-397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Recommandations</a:t>
            </a:r>
            <a:endParaRPr lang="en-US" sz="1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8566920" y="8248320"/>
            <a:ext cx="57708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11704320" y="8248320"/>
            <a:ext cx="64008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15295320" y="8248320"/>
            <a:ext cx="478080" cy="34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01"/>
              </a:lnSpc>
            </a:pPr>
            <a:r>
              <a:rPr lang="en-US" sz="3000" b="0" u="none" strike="noStrike" spc="-105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Freeform 10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16426800" y="9210600"/>
            <a:ext cx="29052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2"/>
          <p:cNvGrpSpPr/>
          <p:nvPr/>
        </p:nvGrpSpPr>
        <p:grpSpPr>
          <a:xfrm>
            <a:off x="0" y="0"/>
            <a:ext cx="8091720" cy="10286280"/>
            <a:chOff x="0" y="0"/>
            <a:chExt cx="8091720" cy="10286280"/>
          </a:xfrm>
        </p:grpSpPr>
        <p:sp>
          <p:nvSpPr>
            <p:cNvPr id="146" name="Freeform 3"/>
            <p:cNvSpPr/>
            <p:nvPr/>
          </p:nvSpPr>
          <p:spPr>
            <a:xfrm>
              <a:off x="0" y="0"/>
              <a:ext cx="8091720" cy="10286280"/>
            </a:xfrm>
            <a:custGeom>
              <a:avLst/>
              <a:gdLst>
                <a:gd name="textAreaLeft" fmla="*/ 0 w 8091720"/>
                <a:gd name="textAreaRight" fmla="*/ 8092440 w 809172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10789793" h="13716000">
                  <a:moveTo>
                    <a:pt x="0" y="0"/>
                  </a:moveTo>
                  <a:lnTo>
                    <a:pt x="10789793" y="0"/>
                  </a:lnTo>
                  <a:lnTo>
                    <a:pt x="1078979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E3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Group 4"/>
          <p:cNvGrpSpPr/>
          <p:nvPr/>
        </p:nvGrpSpPr>
        <p:grpSpPr>
          <a:xfrm>
            <a:off x="680400" y="2089800"/>
            <a:ext cx="696240" cy="696240"/>
            <a:chOff x="680400" y="2089800"/>
            <a:chExt cx="696240" cy="696240"/>
          </a:xfrm>
        </p:grpSpPr>
        <p:sp>
          <p:nvSpPr>
            <p:cNvPr id="148" name="Freeform 5"/>
            <p:cNvSpPr/>
            <p:nvPr/>
          </p:nvSpPr>
          <p:spPr>
            <a:xfrm>
              <a:off x="680400" y="2089800"/>
              <a:ext cx="696240" cy="696240"/>
            </a:xfrm>
            <a:custGeom>
              <a:avLst/>
              <a:gdLst>
                <a:gd name="textAreaLeft" fmla="*/ 0 w 696240"/>
                <a:gd name="textAreaRight" fmla="*/ 696960 w 696240"/>
                <a:gd name="textAreaTop" fmla="*/ 0 h 696240"/>
                <a:gd name="textAreaBottom" fmla="*/ 696960 h 696240"/>
              </a:gdLst>
              <a:ahLst/>
              <a:cxnLst/>
              <a:rect l="textAreaLeft" t="textAreaTop" r="textAreaRight" b="textAreaBottom"/>
              <a:pathLst>
                <a:path w="929259" h="929259">
                  <a:moveTo>
                    <a:pt x="464693" y="0"/>
                  </a:moveTo>
                  <a:cubicBezTo>
                    <a:pt x="208026" y="0"/>
                    <a:pt x="0" y="208026"/>
                    <a:pt x="0" y="464693"/>
                  </a:cubicBezTo>
                  <a:cubicBezTo>
                    <a:pt x="0" y="721360"/>
                    <a:pt x="208026" y="929259"/>
                    <a:pt x="464693" y="929259"/>
                  </a:cubicBezTo>
                  <a:cubicBezTo>
                    <a:pt x="721360" y="929259"/>
                    <a:pt x="929259" y="721233"/>
                    <a:pt x="929259" y="464693"/>
                  </a:cubicBezTo>
                  <a:cubicBezTo>
                    <a:pt x="929259" y="208153"/>
                    <a:pt x="721233" y="0"/>
                    <a:pt x="464693" y="0"/>
                  </a:cubicBezTo>
                  <a:close/>
                </a:path>
              </a:pathLst>
            </a:custGeom>
            <a:solidFill>
              <a:srgbClr val="BAC9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TextBox 6"/>
          <p:cNvSpPr/>
          <p:nvPr/>
        </p:nvSpPr>
        <p:spPr>
          <a:xfrm>
            <a:off x="680400" y="5310000"/>
            <a:ext cx="7184160" cy="39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R1 : Campagne email de réactivation personnalisée pour les 3 486 clients à risque.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R2 : Alerte automatique mensuelle pour tout nouveau client en zone de danger.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R3 : A/B test 30 jours pour valider l’effet avant déploiement à grande échelle.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9144000" y="1600200"/>
            <a:ext cx="6835680" cy="11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6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3 Recommandations actionables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9144000" y="4179960"/>
            <a:ext cx="6835680" cy="246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91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Impact attendu 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1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taux de reconversion 5 % → 7 % (+2 points).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ROI positif dès le premier cycle.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Freeform 9"/>
          <p:cNvSpPr/>
          <p:nvPr/>
        </p:nvSpPr>
        <p:spPr>
          <a:xfrm>
            <a:off x="9144000" y="322020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16455960" y="9241491"/>
            <a:ext cx="306019" cy="333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2"/>
          <p:cNvGrpSpPr/>
          <p:nvPr/>
        </p:nvGrpSpPr>
        <p:grpSpPr>
          <a:xfrm>
            <a:off x="0" y="0"/>
            <a:ext cx="8091720" cy="10286280"/>
            <a:chOff x="0" y="0"/>
            <a:chExt cx="8091720" cy="10286280"/>
          </a:xfrm>
        </p:grpSpPr>
        <p:sp>
          <p:nvSpPr>
            <p:cNvPr id="155" name="Freeform 3"/>
            <p:cNvSpPr/>
            <p:nvPr/>
          </p:nvSpPr>
          <p:spPr>
            <a:xfrm>
              <a:off x="0" y="0"/>
              <a:ext cx="8091720" cy="10286280"/>
            </a:xfrm>
            <a:custGeom>
              <a:avLst/>
              <a:gdLst>
                <a:gd name="textAreaLeft" fmla="*/ 0 w 8091720"/>
                <a:gd name="textAreaRight" fmla="*/ 8092440 w 809172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10789793" h="13716000">
                  <a:moveTo>
                    <a:pt x="0" y="0"/>
                  </a:moveTo>
                  <a:lnTo>
                    <a:pt x="10789793" y="0"/>
                  </a:lnTo>
                  <a:lnTo>
                    <a:pt x="1078979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" name="TextBox 4"/>
          <p:cNvSpPr/>
          <p:nvPr/>
        </p:nvSpPr>
        <p:spPr>
          <a:xfrm>
            <a:off x="1028880" y="1600200"/>
            <a:ext cx="6351120" cy="95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Impact attendu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Group 5"/>
          <p:cNvGrpSpPr/>
          <p:nvPr/>
        </p:nvGrpSpPr>
        <p:grpSpPr>
          <a:xfrm>
            <a:off x="1028880" y="5655600"/>
            <a:ext cx="696240" cy="696240"/>
            <a:chOff x="1028880" y="5655600"/>
            <a:chExt cx="696240" cy="696240"/>
          </a:xfrm>
        </p:grpSpPr>
        <p:sp>
          <p:nvSpPr>
            <p:cNvPr id="158" name="Freeform 6"/>
            <p:cNvSpPr/>
            <p:nvPr/>
          </p:nvSpPr>
          <p:spPr>
            <a:xfrm>
              <a:off x="1028880" y="5655600"/>
              <a:ext cx="696240" cy="696240"/>
            </a:xfrm>
            <a:custGeom>
              <a:avLst/>
              <a:gdLst>
                <a:gd name="textAreaLeft" fmla="*/ 0 w 696240"/>
                <a:gd name="textAreaRight" fmla="*/ 696960 w 696240"/>
                <a:gd name="textAreaTop" fmla="*/ 0 h 696240"/>
                <a:gd name="textAreaBottom" fmla="*/ 696960 h 696240"/>
              </a:gdLst>
              <a:ahLst/>
              <a:cxnLst/>
              <a:rect l="textAreaLeft" t="textAreaTop" r="textAreaRight" b="textAreaBottom"/>
              <a:pathLst>
                <a:path w="929259" h="929259">
                  <a:moveTo>
                    <a:pt x="464693" y="0"/>
                  </a:moveTo>
                  <a:cubicBezTo>
                    <a:pt x="208026" y="0"/>
                    <a:pt x="0" y="208026"/>
                    <a:pt x="0" y="464693"/>
                  </a:cubicBezTo>
                  <a:cubicBezTo>
                    <a:pt x="0" y="721360"/>
                    <a:pt x="208026" y="929259"/>
                    <a:pt x="464693" y="929259"/>
                  </a:cubicBezTo>
                  <a:cubicBezTo>
                    <a:pt x="721360" y="929259"/>
                    <a:pt x="929259" y="721233"/>
                    <a:pt x="929259" y="464693"/>
                  </a:cubicBezTo>
                  <a:cubicBezTo>
                    <a:pt x="929259" y="208153"/>
                    <a:pt x="721233" y="0"/>
                    <a:pt x="464693" y="0"/>
                  </a:cubicBezTo>
                  <a:close/>
                </a:path>
              </a:pathLst>
            </a:custGeom>
            <a:solidFill>
              <a:srgbClr val="BAC9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TextBox 7"/>
          <p:cNvSpPr/>
          <p:nvPr/>
        </p:nvSpPr>
        <p:spPr>
          <a:xfrm>
            <a:off x="786240" y="6809040"/>
            <a:ext cx="683568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92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Mesures clés du plan A/B test et de l’impact projeté sur les 3 486 clients cibles.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Table 8"/>
          <p:cNvGraphicFramePr/>
          <p:nvPr/>
        </p:nvGraphicFramePr>
        <p:xfrm>
          <a:off x="9396360" y="1860480"/>
          <a:ext cx="8254440" cy="6552360"/>
        </p:xfrm>
        <a:graphic>
          <a:graphicData uri="http://schemas.openxmlformats.org/drawingml/2006/table">
            <a:tbl>
              <a:tblPr/>
              <a:tblGrid>
                <a:gridCol w="44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584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Fiabilité modèle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12240">
                      <a:noFill/>
                      <a:prstDash val="solid"/>
                    </a:lnL>
                    <a:lnR w="86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8640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271"/>
                        </a:lnSpc>
                      </a:pPr>
                      <a:r>
                        <a:rPr lang="en-US" sz="234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87%</a:t>
                      </a:r>
                      <a:endParaRPr lang="en-US" sz="23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86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8640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84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Clients à risque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12240">
                      <a:noFill/>
                      <a:prstDash val="solid"/>
                    </a:lnL>
                    <a:lnR w="8640">
                      <a:solidFill>
                        <a:srgbClr val="000000"/>
                      </a:solidFill>
                      <a:prstDash val="solid"/>
                    </a:lnR>
                    <a:lnT w="8640">
                      <a:solidFill>
                        <a:srgbClr val="000000"/>
                      </a:solidFill>
                      <a:prstDash val="dash"/>
                    </a:lnT>
                    <a:lnB w="8640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271"/>
                        </a:lnSpc>
                      </a:pPr>
                      <a:r>
                        <a:rPr lang="en-US" sz="234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3 486</a:t>
                      </a:r>
                      <a:endParaRPr lang="en-US" sz="23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86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8640">
                      <a:solidFill>
                        <a:srgbClr val="000000"/>
                      </a:solidFill>
                      <a:prstDash val="dash"/>
                    </a:lnT>
                    <a:lnB w="8640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84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Taux churn segment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12240">
                      <a:noFill/>
                      <a:prstDash val="solid"/>
                    </a:lnL>
                    <a:lnR w="8640">
                      <a:solidFill>
                        <a:srgbClr val="000000"/>
                      </a:solidFill>
                      <a:prstDash val="solid"/>
                    </a:lnR>
                    <a:lnT w="8640">
                      <a:solidFill>
                        <a:srgbClr val="000000"/>
                      </a:solidFill>
                      <a:prstDash val="dash"/>
                    </a:lnT>
                    <a:lnB w="8640">
                      <a:noFill/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271"/>
                        </a:lnSpc>
                      </a:pPr>
                      <a:r>
                        <a:rPr lang="en-US" sz="234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76%</a:t>
                      </a:r>
                      <a:endParaRPr lang="en-US" sz="23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86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8640">
                      <a:solidFill>
                        <a:srgbClr val="000000"/>
                      </a:solidFill>
                      <a:prstDash val="dash"/>
                    </a:lnT>
                    <a:lnB w="8640">
                      <a:noFill/>
                      <a:prstDash val="dash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84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lang="en-US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Reconversion visée</a:t>
                      </a:r>
                      <a:endParaRPr lang="en-US" sz="2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12240">
                      <a:noFill/>
                      <a:prstDash val="solid"/>
                    </a:lnL>
                    <a:lnR w="8640">
                      <a:solidFill>
                        <a:srgbClr val="000000"/>
                      </a:solidFill>
                      <a:prstDash val="solid"/>
                    </a:lnR>
                    <a:lnT w="8640">
                      <a:noFill/>
                      <a:prstDash val="dash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3271"/>
                        </a:lnSpc>
                      </a:pPr>
                      <a:r>
                        <a:rPr lang="en-US" sz="234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eue Machina"/>
                          <a:ea typeface="Neue Machina"/>
                        </a:rPr>
                        <a:t>7%</a:t>
                      </a:r>
                      <a:endParaRPr lang="en-US" sz="23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77840" marR="177840" marT="177840" marB="177840" anchor="ctr">
                    <a:lnL w="86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8640">
                      <a:noFill/>
                      <a:prstDash val="dash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1" name="TextBox 9"/>
          <p:cNvSpPr/>
          <p:nvPr/>
        </p:nvSpPr>
        <p:spPr>
          <a:xfrm>
            <a:off x="16426800" y="9210600"/>
            <a:ext cx="29052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4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165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6" name="TextBox 6"/>
          <p:cNvSpPr/>
          <p:nvPr/>
        </p:nvSpPr>
        <p:spPr>
          <a:xfrm>
            <a:off x="4294800" y="3249720"/>
            <a:ext cx="827064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Conclusion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Freeform 7"/>
          <p:cNvSpPr/>
          <p:nvPr/>
        </p:nvSpPr>
        <p:spPr>
          <a:xfrm>
            <a:off x="7858080" y="567504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6455960" y="9210600"/>
            <a:ext cx="306019" cy="333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2"/>
          <p:cNvSpPr/>
          <p:nvPr/>
        </p:nvSpPr>
        <p:spPr>
          <a:xfrm>
            <a:off x="4926240" y="1600200"/>
            <a:ext cx="8434800" cy="66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885"/>
              </a:lnSpc>
            </a:pPr>
            <a:r>
              <a:rPr lang="en-US" sz="8200" b="1" u="none" strike="noStrike">
                <a:solidFill>
                  <a:srgbClr val="000000"/>
                </a:solidFill>
                <a:effectLst/>
                <a:uFillTx/>
                <a:latin typeface="Cormorant Garamond Bold"/>
                <a:ea typeface="Cormorant Garamond Bold"/>
              </a:rPr>
              <a:t>Conclusion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4138560" y="4614840"/>
            <a:ext cx="1026612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50240" lvl="1" indent="-375120" defTabSz="914400">
              <a:lnSpc>
                <a:spcPts val="4867"/>
              </a:lnSpc>
              <a:buClr>
                <a:srgbClr val="000000"/>
              </a:buClr>
              <a:buFont typeface="Arial"/>
              <a:buChar char="•"/>
            </a:pPr>
            <a:r>
              <a:rPr lang="en-US" sz="348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La donnée au service de la fidélisation client.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0240" lvl="1" indent="-375120" defTabSz="914400">
              <a:lnSpc>
                <a:spcPts val="4867"/>
              </a:lnSpc>
              <a:buClr>
                <a:srgbClr val="000000"/>
              </a:buClr>
              <a:buFont typeface="Arial"/>
              <a:buChar char="•"/>
            </a:pPr>
            <a:r>
              <a:rPr lang="en-US" sz="348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Anticiper le départplutôtque le subir.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0240" lvl="1" indent="-375120" defTabSz="914400">
              <a:lnSpc>
                <a:spcPts val="4867"/>
              </a:lnSpc>
              <a:buClr>
                <a:srgbClr val="000000"/>
              </a:buClr>
              <a:buFont typeface="Arial"/>
              <a:buChar char="•"/>
            </a:pPr>
            <a:r>
              <a:rPr lang="en-US" sz="3480" b="0" u="none" strike="noStrike">
                <a:solidFill>
                  <a:srgbClr val="000000"/>
                </a:solidFill>
                <a:effectLst/>
                <a:uFillTx/>
                <a:latin typeface="Cabin"/>
                <a:ea typeface="Cabin"/>
              </a:rPr>
              <a:t> Agir vite, ciblerjuste, retenirmieux.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67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4"/>
          <p:cNvSpPr/>
          <p:nvPr/>
        </p:nvSpPr>
        <p:spPr>
          <a:xfrm>
            <a:off x="7699680" y="292140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6208825" y="9210600"/>
            <a:ext cx="475924" cy="333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Freeform 2"/>
          <p:cNvSpPr/>
          <p:nvPr/>
        </p:nvSpPr>
        <p:spPr>
          <a:xfrm>
            <a:off x="1766520" y="5214600"/>
            <a:ext cx="1887480" cy="1887480"/>
          </a:xfrm>
          <a:custGeom>
            <a:avLst/>
            <a:gdLst>
              <a:gd name="textAreaLeft" fmla="*/ 0 w 1887480"/>
              <a:gd name="textAreaRight" fmla="*/ 1888200 w 1887480"/>
              <a:gd name="textAreaTop" fmla="*/ 0 h 1887480"/>
              <a:gd name="textAreaBottom" fmla="*/ 1888200 h 1887480"/>
            </a:gdLst>
            <a:ahLst/>
            <a:cxnLst/>
            <a:rect l="textAreaLeft" t="textAreaTop" r="textAreaRight" b="textAreaBottom"/>
            <a:pathLst>
              <a:path w="1888169" h="1888169">
                <a:moveTo>
                  <a:pt x="0" y="0"/>
                </a:moveTo>
                <a:lnTo>
                  <a:pt x="1888169" y="0"/>
                </a:lnTo>
                <a:lnTo>
                  <a:pt x="1888169" y="1888169"/>
                </a:lnTo>
                <a:lnTo>
                  <a:pt x="0" y="18881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Freeform 3"/>
          <p:cNvSpPr/>
          <p:nvPr/>
        </p:nvSpPr>
        <p:spPr>
          <a:xfrm>
            <a:off x="2710440" y="2378520"/>
            <a:ext cx="1150920" cy="1170000"/>
          </a:xfrm>
          <a:custGeom>
            <a:avLst/>
            <a:gdLst>
              <a:gd name="textAreaLeft" fmla="*/ 0 w 1150920"/>
              <a:gd name="textAreaRight" fmla="*/ 1151640 w 1150920"/>
              <a:gd name="textAreaTop" fmla="*/ 0 h 1170000"/>
              <a:gd name="textAreaBottom" fmla="*/ 1170720 h 1170000"/>
            </a:gdLst>
            <a:ahLst/>
            <a:cxnLst/>
            <a:rect l="textAreaLeft" t="textAreaTop" r="textAreaRight" b="textAreaBottom"/>
            <a:pathLst>
              <a:path w="1151715" h="1170880">
                <a:moveTo>
                  <a:pt x="0" y="0"/>
                </a:moveTo>
                <a:lnTo>
                  <a:pt x="1151715" y="0"/>
                </a:lnTo>
                <a:lnTo>
                  <a:pt x="1151715" y="1170880"/>
                </a:lnTo>
                <a:lnTo>
                  <a:pt x="0" y="1170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" name="Group 4"/>
          <p:cNvGrpSpPr/>
          <p:nvPr/>
        </p:nvGrpSpPr>
        <p:grpSpPr>
          <a:xfrm>
            <a:off x="7365600" y="8724960"/>
            <a:ext cx="9725400" cy="8640"/>
            <a:chOff x="7365600" y="8724960"/>
            <a:chExt cx="9725400" cy="8640"/>
          </a:xfrm>
        </p:grpSpPr>
        <p:sp>
          <p:nvSpPr>
            <p:cNvPr id="176" name="Freeform 5"/>
            <p:cNvSpPr/>
            <p:nvPr/>
          </p:nvSpPr>
          <p:spPr>
            <a:xfrm>
              <a:off x="7365600" y="8724960"/>
              <a:ext cx="9725400" cy="8640"/>
            </a:xfrm>
            <a:custGeom>
              <a:avLst/>
              <a:gdLst>
                <a:gd name="textAreaLeft" fmla="*/ 0 w 9725400"/>
                <a:gd name="textAreaRight" fmla="*/ 9726120 w 9725400"/>
                <a:gd name="textAreaTop" fmla="*/ 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2968224" h="12700">
                  <a:moveTo>
                    <a:pt x="0" y="0"/>
                  </a:moveTo>
                  <a:lnTo>
                    <a:pt x="12968224" y="12700"/>
                  </a:lnTo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5640" rIns="90000" bIns="-356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TextBox 6"/>
          <p:cNvSpPr/>
          <p:nvPr/>
        </p:nvSpPr>
        <p:spPr>
          <a:xfrm>
            <a:off x="4294800" y="3249720"/>
            <a:ext cx="409788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u="none" strike="noStrike" spc="-513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Merci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2710440" y="5122440"/>
            <a:ext cx="13372560" cy="181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212"/>
              </a:lnSpc>
            </a:pPr>
            <a:r>
              <a:rPr lang="en-US" sz="14680" b="1" i="1" u="none" strike="noStrike" spc="-513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pour votre attention</a:t>
            </a:r>
            <a:endParaRPr lang="en-US" sz="14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5544360" y="8248320"/>
            <a:ext cx="402732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01"/>
              </a:lnSpc>
            </a:pPr>
            <a:r>
              <a:rPr lang="en-US" sz="3000" b="1" u="none" strike="noStrike" spc="-105">
                <a:solidFill>
                  <a:srgbClr val="000000"/>
                </a:solidFill>
                <a:effectLst/>
                <a:uFillTx/>
                <a:latin typeface="Cabin Bold"/>
                <a:ea typeface="Cabin Bold"/>
              </a:rPr>
              <a:t>Zainab Farih &amp; Assia Rguibi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Freeform 9"/>
          <p:cNvSpPr/>
          <p:nvPr/>
        </p:nvSpPr>
        <p:spPr>
          <a:xfrm>
            <a:off x="12255840" y="5658120"/>
            <a:ext cx="2571120" cy="321840"/>
          </a:xfrm>
          <a:custGeom>
            <a:avLst/>
            <a:gdLst>
              <a:gd name="textAreaLeft" fmla="*/ 0 w 2571120"/>
              <a:gd name="textAreaRight" fmla="*/ 2571840 w 2571120"/>
              <a:gd name="textAreaTop" fmla="*/ 0 h 321840"/>
              <a:gd name="textAreaBottom" fmla="*/ 322560 h 321840"/>
            </a:gdLst>
            <a:ahLst/>
            <a:cxnLst/>
            <a:rect l="textAreaLeft" t="textAreaTop" r="textAreaRight" b="textAreaBottom"/>
            <a:pathLst>
              <a:path w="2571817" h="322650">
                <a:moveTo>
                  <a:pt x="0" y="0"/>
                </a:moveTo>
                <a:lnTo>
                  <a:pt x="2571817" y="0"/>
                </a:lnTo>
                <a:lnTo>
                  <a:pt x="2571817" y="322650"/>
                </a:lnTo>
                <a:lnTo>
                  <a:pt x="0" y="3226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6455960" y="9210600"/>
            <a:ext cx="290573" cy="333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data_story.pptx</dc:title>
  <dc:subject/>
  <dc:creator/>
  <dc:description/>
  <cp:lastModifiedBy/>
  <cp:revision>14</cp:revision>
  <dcterms:created xsi:type="dcterms:W3CDTF">2006-08-16T00:00:00Z</dcterms:created>
  <dcterms:modified xsi:type="dcterms:W3CDTF">2026-06-09T03:21:11Z</dcterms:modified>
  <dc:identifier>DAHMCS0Xj8Y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